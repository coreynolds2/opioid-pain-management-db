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93B"/>
                </a:solidFill>
                <a:latin typeface="Arial"/>
              </a:rPr>
              <a:t>Average Opioid Duration (Days) by Drug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Duration (Days)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Oxycodone</c:v>
                </c:pt>
                <c:pt idx="1">
                  <c:v>Tramadol</c:v>
                </c:pt>
                <c:pt idx="2">
                  <c:v>Fentanyl</c:v>
                </c:pt>
                <c:pt idx="3">
                  <c:v>Morphine</c:v>
                </c:pt>
                <c:pt idx="4">
                  <c:v>Hydrocodone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7</c:v>
                </c:pt>
                <c:pt idx="2">
                  <c:v>3</c:v>
                </c:pt>
                <c:pt idx="3">
                  <c:v>2</c:v>
                </c:pt>
                <c:pt idx="4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12-4594-B628-9FCDEB44F0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93B"/>
                </a:solidFill>
                <a:latin typeface="Arial"/>
              </a:rPr>
              <a:t>Adverse Events by Severity (n=7)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FE1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9A-4B83-9944-C06FDDAF818E}"/>
              </c:ext>
            </c:extLst>
          </c:dPt>
          <c:dPt>
            <c:idx val="1"/>
            <c:bubble3D val="0"/>
            <c:spPr>
              <a:solidFill>
                <a:srgbClr val="FAC7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9A-4B83-9944-C06FDDAF818E}"/>
              </c:ext>
            </c:extLst>
          </c:dPt>
          <c:dPt>
            <c:idx val="2"/>
            <c:bubble3D val="0"/>
            <c:spPr>
              <a:solidFill>
                <a:srgbClr val="F095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9A-4B83-9944-C06FDDAF818E}"/>
              </c:ext>
            </c:extLst>
          </c:dPt>
          <c:dPt>
            <c:idx val="3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89A-4B83-9944-C06FDDAF818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89A-4B83-9944-C06FDDAF818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89A-4B83-9944-C06FDDAF818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89A-4B83-9944-C06FDDAF818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89A-4B83-9944-C06FDDAF818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Mild</c:v>
                </c:pt>
                <c:pt idx="1">
                  <c:v>Moderate</c:v>
                </c:pt>
                <c:pt idx="2">
                  <c:v>Severe</c:v>
                </c:pt>
                <c:pt idx="3">
                  <c:v>Critical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89A-4B83-9944-C06FDDAF81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331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109728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Pain Management Analytics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Postoperative Pain Management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Riverbend Medical Center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50292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Corey Reynolds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Canyon University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Management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A"/>
          </a:solidFill>
          <a:ln w="12700">
            <a:solidFill>
              <a:srgbClr val="0F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206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medications remain essential in postoperative pain management, yet their use carries serious risks — including inadequate pain control, adverse reactions, and dependency. This analysis leverages a purpose-built relational database to examine opioid administration patterns, pain relief effectiveness, and adverse event trends across seven postoperative patients at Riverbend Medical Center.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960120"/>
            <a:ext cx="374904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9FE1C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0" y="960120"/>
            <a:ext cx="10972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Effectiveness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38074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opioid impact on pain scores and recovery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194560"/>
            <a:ext cx="374904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9FE1C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2194560"/>
            <a:ext cx="10972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2286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61518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potential misuse, dependency, or adverse events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3429000"/>
            <a:ext cx="374904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9FE1C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3429000"/>
            <a:ext cx="10972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3520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Policy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84962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providers, policymakers, and researchers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A"/>
          </a:solidFill>
          <a:ln w="12700">
            <a:solidFill>
              <a:srgbClr val="0F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relational tables were designed to capture the full clinical picture of postoperative opioid management: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7432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medical history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4630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463040"/>
            <a:ext cx="27432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8105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&amp; specialization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14630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463040"/>
            <a:ext cx="27432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18105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type, date, care plan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43200"/>
            <a:ext cx="27432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43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Administration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0906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Drug, dosage, route, duration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18688" y="274320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743200"/>
            <a:ext cx="27432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743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Records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0906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scale, time to relief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274320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2743200"/>
            <a:ext cx="27432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743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54496" y="30906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type, severity, date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A"/>
          </a:solidFill>
          <a:ln w="12700">
            <a:solidFill>
              <a:srgbClr val="0F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Opioid Usage Patterns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83464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9FE1C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05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943600" y="1554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opioids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2286000"/>
            <a:ext cx="283464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9FE1C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331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943600" y="2880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max avg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Oxycodone duration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3611880"/>
            <a:ext cx="283464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9FE1C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36576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943600" y="4206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high-pain patients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oral opioids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A"/>
          </a:solidFill>
          <a:ln w="12700">
            <a:solidFill>
              <a:srgbClr val="0F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Pain Relief Effectiveness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SQL Query 2 — pain relief effectiveness by opioid type: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8412480" cy="2286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Opioid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Pain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Time to Relief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Pain-Free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Fentanyl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Oxycodone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Tramadol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Hydrocodone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3703320"/>
            <a:ext cx="8412480" cy="1051560"/>
          </a:xfrm>
          <a:prstGeom prst="rect">
            <a:avLst/>
          </a:prstGeom>
          <a:solidFill>
            <a:srgbClr val="E0F2F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3703320"/>
            <a:ext cx="109728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749040"/>
            <a:ext cx="8092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Hydrocodone and Tramadol produced more pain-free days than faster-acting IV opioids, suggesting that milder oral regimens may offer better sustained relief for lower-acuity procedures. Fentanyl showed fastest relief onset but fewest pain-free days, consistent with its short-acting IV profile.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A"/>
          </a:solidFill>
          <a:ln w="12700">
            <a:solidFill>
              <a:srgbClr val="0F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Issues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4114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960120"/>
            <a:ext cx="4114800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E24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754880" y="960120"/>
            <a:ext cx="109728" cy="89611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56048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Dependency Risk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56048" y="12984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4 (Lumbar Fusion, Oxycodone 10mg × 10 days) requested early refill — highest misuse indicator in the dataset.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984248"/>
            <a:ext cx="4114800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F0959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984248"/>
            <a:ext cx="109728" cy="896112"/>
          </a:xfrm>
          <a:prstGeom prst="rect">
            <a:avLst/>
          </a:prstGeom>
          <a:solidFill>
            <a:srgbClr val="F09595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56048" y="2029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Depression (x2)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56048" y="23225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3 and 7 experienced respiratory depression requiring clinical intervention. Both were on IV opioids.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3008376"/>
            <a:ext cx="4114800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FAC77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3008376"/>
            <a:ext cx="109728" cy="896112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3054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Pain Control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56048" y="33467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7 patients (43%) maintained pain scores ≥ 8 despite opioid therapy, signaling undertreated postoperative pain.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4032504"/>
            <a:ext cx="4114800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9FE1C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4032504"/>
            <a:ext cx="109728" cy="896112"/>
          </a:xfrm>
          <a:prstGeom prst="rect">
            <a:avLst/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56048" y="40782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Disparity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56048" y="43708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 and Black patients accounted for 4 of 7 adverse events — warranting closer monitoring for equitable care.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Worldview Reflection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Pain Management, Patient Dignity, and Holistic Care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1024128"/>
          </a:xfrm>
          <a:prstGeom prst="rect">
            <a:avLst/>
          </a:prstGeom>
          <a:solidFill>
            <a:srgbClr val="162B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502920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399032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Dignity &amp; Patient-Centered Care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728216"/>
            <a:ext cx="7726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Christian worldview holds that every person is created in the image of God (imago Dei). This mandates that pain management decisions honor each patient's inherent worth — ensuring that no patient, regardless of ethnicity or background, experiences undertreated pain or is over-prescribed opioids based on bias.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532888"/>
            <a:ext cx="8503920" cy="1024128"/>
          </a:xfrm>
          <a:prstGeom prst="rect">
            <a:avLst/>
          </a:prstGeom>
          <a:solidFill>
            <a:srgbClr val="162B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532888"/>
            <a:ext cx="502920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532888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2606040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Stewardship of Medicine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935224"/>
            <a:ext cx="7726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Stewardship principles call healthcare providers to use powerful medications wisely. The data showing two cases of respiratory depression and one dependency-risk patient underscore the moral obligation to prescribe opioids at the lowest effective dose, with close monitoring and clear care plans.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739896"/>
            <a:ext cx="8503920" cy="1024128"/>
          </a:xfrm>
          <a:prstGeom prst="rect">
            <a:avLst/>
          </a:prstGeom>
          <a:solidFill>
            <a:srgbClr val="162B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739896"/>
            <a:ext cx="502920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739896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3813048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&amp; Restorative Care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4142232"/>
            <a:ext cx="7726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Scripture's vision of shalom — wholeness and flourishing — aligns with multimodal pain management. Integrating physical therapy, non-opioid analgesics, and psychological support alongside opioids reflects a whole-person approach that promotes genuine healing rather than dependence.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A"/>
          </a:solidFill>
          <a:ln w="12700">
            <a:solidFill>
              <a:srgbClr val="0F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0332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Monitoring Protocols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mandatory pain reassessment at 24h and 48h post-administration. Flag patients on high-dose opioids (≥ 10mg) or extended duration (≥ 7 days) for pharmacist review.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5486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6012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04688" y="10332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Multimodal Pain Strategies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83480" y="150876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reliance on opioids by pairing them with NSAIDs, nerve blocks, and non-pharmacological interventions like PT. Results show Tramadol + PT produced 4 pain-free days vs. 2 for IV opioids.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5486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7180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30449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Demographic Disparities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" y="352044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prescribing guidelines across all patient demographics. Adverse event data showed disproportionate impact on minority patients — provider implicit bias training is warranted.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71800"/>
            <a:ext cx="5486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7180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04688" y="30449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Database for Research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83480" y="352044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this schema to include larger patient cohorts, longitudinal follow-up, and EHR integration (Epic/Cerner) to enable population-level opioid outcome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duration and route significantly affect pain relief outcomes.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opioids provide faster onset but fewer sustained pain-free days.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and severe adverse events were exclusively tied to IV administration.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opioid misuse was identified in 1 of 7 patients (14%).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disparities in adverse events require targeted intervention.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760720" y="960120"/>
            <a:ext cx="3108960" cy="3749040"/>
          </a:xfrm>
          <a:prstGeom prst="rect">
            <a:avLst/>
          </a:prstGeom>
          <a:solidFill>
            <a:srgbClr val="162B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0972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97880" y="150876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database provides a scalable, evidence-based framework for healthcare providers to optimize pain management protocols, reduce opioid misuse, and ensure equitable care. When guided by ethical principles — including respect for human dignity and holistic healing — data-driven approaches can meaningfully improve postoperative patient outcomes.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Corey Reynolds  |  MS Healthcare Informatics  |  Grand Canyon University  |  2024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A"/>
          </a:solidFill>
          <a:ln w="12700">
            <a:solidFill>
              <a:srgbClr val="0F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for Disease Control and Prevention. (2022). CDC clinical practice guideline for prescribing opioids for pain — United States, 2022. MMWR Recommendations and Reports, 71(3), 1–95. https://doi.org/10.15585/mmwr.rr7103a1</a:t>
            </a:r>
            <a:endParaRPr lang="en-US" sz="105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Medicine. (2011). Relieving pain in America: A blueprint for transforming prevention, care, education, and research. The National Academies Press.</a:t>
            </a:r>
            <a:endParaRPr lang="en-US" sz="105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Jungquist, C. R., Pasero, C., Tripoli, N. M., Gorodetsky, R., Metersky, M., &amp; Polomano, R. C. (2014). Instituting best practice for monitoring outcomes in hospitalized patients receiving opioid analgesia. Worldviews on Evidence-Based Nursing, 11(2), 82–91.</a:t>
            </a:r>
            <a:endParaRPr lang="en-US" sz="105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Matthias, M. S., Parpart, A. L., Nyland, K. A., Huffman, M. A., Stubbs, D. L., Sargent, C., &amp; Bair, M. J. (2010). The patient–provider relationship in chronic pain care: Providers' perspectives. Pain Medicine, 11(11), 1688–1697.</a:t>
            </a:r>
            <a:endParaRPr lang="en-US" sz="105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on Drug Abuse. (2023). Opioid overdose crisis. U.S. Department of Health and Human Services. https://nida.nih.gov/research-topics/opioids/opioid-overdose-crisis</a:t>
            </a:r>
            <a:endParaRPr lang="en-US" sz="105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Peacock, P. J. &amp; Peacock, J. L. (2018). Evidence-based healthcare: A practical guide for therapists. Elsevier.</a:t>
            </a:r>
            <a:endParaRPr lang="en-US" sz="105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(2019). WHO guidelines for the pharmacological and radiotherapeutic management of cancer pain in adults and adolescents. WHO Press.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1140</Words>
  <Application>Microsoft Office PowerPoint</Application>
  <PresentationFormat>On-screen Show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Opioid Pain Management Analytics</dc:title>
  <dc:subject>PptxGenJS Presentation</dc:subject>
  <dc:creator>Corey Reynolds</dc:creator>
  <cp:lastModifiedBy>Corey Reynolds</cp:lastModifiedBy>
  <cp:revision>2</cp:revision>
  <dcterms:created xsi:type="dcterms:W3CDTF">2026-04-15T19:37:32Z</dcterms:created>
  <dcterms:modified xsi:type="dcterms:W3CDTF">2026-04-15T20:34:13Z</dcterms:modified>
</cp:coreProperties>
</file>